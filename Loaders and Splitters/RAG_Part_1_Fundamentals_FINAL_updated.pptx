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76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6324B"/>
                </a:solidFill>
              </a:rPr>
              <a:t>📚 RAG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41505F"/>
                </a:solidFill>
              </a:rPr>
              <a:t>Retrieval-Augmented Generation
From LLM Basics to Complete RAG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4069080"/>
            <a:ext cx="6309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92D41"/>
                </a:solidFill>
              </a:rPr>
              <a:t>🎯 Learning Goal</a:t>
            </a:r>
          </a:p>
          <a:p>
            <a:pPr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t>Understand what RAG is, why we need it, how it works, and how it differs from LLMs, Search, and Fine-tuning.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375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smtClean="0">
                <a:solidFill>
                  <a:srgbClr val="182738"/>
                </a:solidFill>
              </a:rPr>
              <a:t>Part </a:t>
            </a:r>
            <a:r>
              <a:rPr sz="2800" b="1" dirty="0">
                <a:solidFill>
                  <a:srgbClr val="182738"/>
                </a:solidFill>
              </a:rPr>
              <a:t>1 — 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1216"/>
            <a:ext cx="10515600" cy="400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1. What is an LLM?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2. Why do we need RAG?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3. What is RAG?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4. Basic RAG flow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5. Complete RAG architecture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6. Indexing vs Querying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7. RAG vs Normal </a:t>
            </a:r>
            <a:r>
              <a:rPr dirty="0" smtClean="0"/>
              <a:t>LLM</a:t>
            </a:r>
            <a:endParaRPr dirty="0"/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lang="en-US" dirty="0"/>
              <a:t>8</a:t>
            </a:r>
            <a:r>
              <a:rPr dirty="0" smtClean="0"/>
              <a:t>. </a:t>
            </a:r>
            <a:r>
              <a:rPr dirty="0"/>
              <a:t>RAG vs Fine-tuning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2000">
                <a:solidFill>
                  <a:srgbClr val="2D3741"/>
                </a:solidFill>
              </a:defRPr>
            </a:pPr>
            <a:r>
              <a:rPr lang="en-US" dirty="0"/>
              <a:t>9</a:t>
            </a:r>
            <a:r>
              <a:rPr dirty="0" smtClean="0"/>
              <a:t>. </a:t>
            </a:r>
            <a:r>
              <a:rPr dirty="0"/>
              <a:t>Limitations of Basic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9946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smtClean="0">
                <a:solidFill>
                  <a:srgbClr val="182738"/>
                </a:solidFill>
              </a:rPr>
              <a:t>1</a:t>
            </a:r>
            <a:r>
              <a:rPr sz="2800" b="1" dirty="0">
                <a:solidFill>
                  <a:srgbClr val="182738"/>
                </a:solidFill>
              </a:rPr>
              <a:t>. What is an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Large Language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192D41"/>
                </a:solidFill>
              </a:rPr>
              <a:t>📖 Definition</a:t>
            </a:r>
          </a:p>
          <a:p>
            <a:pPr>
              <a:lnSpc>
                <a:spcPct val="108000"/>
              </a:lnSpc>
              <a:defRPr sz="1700">
                <a:solidFill>
                  <a:srgbClr val="4B555F"/>
                </a:solidFill>
              </a:defRPr>
            </a:pPr>
            <a:r>
              <a:t>An LLM is a machine-learning model trained on a very large amount of data so it can understand and generate human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 dirty="0">
                <a:solidFill>
                  <a:srgbClr val="192D41"/>
                </a:solidFill>
              </a:rPr>
              <a:t>🤖 Examples</a:t>
            </a:r>
          </a:p>
          <a:p>
            <a:pPr>
              <a:lnSpc>
                <a:spcPct val="108000"/>
              </a:lnSpc>
              <a:defRPr sz="1800">
                <a:solidFill>
                  <a:srgbClr val="4B555F"/>
                </a:solidFill>
              </a:defRPr>
            </a:pPr>
            <a:r>
              <a:rPr lang="en-US" dirty="0" smtClean="0"/>
              <a:t>            </a:t>
            </a:r>
            <a:r>
              <a:rPr dirty="0" smtClean="0"/>
              <a:t>GPT </a:t>
            </a:r>
            <a:r>
              <a:rPr dirty="0"/>
              <a:t>• Gemini • Claude • Llama • Mistral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3977639"/>
            <a:ext cx="257251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E3750"/>
                </a:solidFill>
              </a:rPr>
              <a:t>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9912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94504" y="3977639"/>
            <a:ext cx="257251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7016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31608" y="3977639"/>
            <a:ext cx="257251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E3750"/>
                </a:solidFill>
              </a:rPr>
              <a:t>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166360"/>
            <a:ext cx="8503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700" b="1" dirty="0" smtClean="0">
                <a:solidFill>
                  <a:srgbClr val="192D41"/>
                </a:solidFill>
              </a:rPr>
              <a:t>️ </a:t>
            </a:r>
            <a:r>
              <a:rPr sz="1700" b="1" dirty="0">
                <a:solidFill>
                  <a:srgbClr val="192D41"/>
                </a:solidFill>
              </a:rPr>
              <a:t>Key limitation</a:t>
            </a:r>
          </a:p>
          <a:p>
            <a:pPr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rPr dirty="0"/>
              <a:t>An LLM does not automatically have access to your private company data or every piece of current information.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1508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smtClean="0">
                <a:solidFill>
                  <a:srgbClr val="182738"/>
                </a:solidFill>
              </a:rPr>
              <a:t>2</a:t>
            </a:r>
            <a:r>
              <a:rPr sz="2800" b="1" dirty="0">
                <a:solidFill>
                  <a:srgbClr val="182738"/>
                </a:solidFill>
              </a:rPr>
              <a:t>. Why Do We Need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The core problem: an LLM may not know your external or private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192D41"/>
                </a:solidFill>
              </a:rPr>
              <a:t>🏢 Problem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rPr dirty="0"/>
              <a:t>Suppose a company has an internal Employee_Handbook.pdf. An employee asks: “How many annual leave days do I get?” A normal LLM does not automatically know the company's private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34440"/>
            <a:ext cx="5303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192D41"/>
                </a:solidFill>
              </a:rPr>
              <a:t>🎯 What we want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rPr dirty="0"/>
              <a:t>Find the answer inside the company's document and use that information to generate a grounded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Company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1265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5858" y="3977639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Find relevant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1323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3977639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1382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5974" y="3977639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257800"/>
            <a:ext cx="8138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700" b="1" dirty="0">
                <a:solidFill>
                  <a:srgbClr val="192D41"/>
                </a:solidFill>
              </a:rPr>
              <a:t>💡 Main idea</a:t>
            </a:r>
          </a:p>
          <a:p>
            <a:pPr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rPr lang="en-US" dirty="0" smtClean="0"/>
              <a:t>                                        </a:t>
            </a:r>
            <a:r>
              <a:rPr dirty="0" smtClean="0"/>
              <a:t>RAG </a:t>
            </a:r>
            <a:r>
              <a:rPr dirty="0"/>
              <a:t>gives the LLM a way to use external knowledge at </a:t>
            </a:r>
            <a:r>
              <a:rPr dirty="0" smtClean="0"/>
              <a:t>answer.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🔎 3. 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RAG = Retrieval-Augmented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192D41"/>
                </a:solidFill>
              </a:rPr>
              <a:t>🔍 Retrieval</a:t>
            </a:r>
          </a:p>
          <a:p>
            <a:pPr>
              <a:lnSpc>
                <a:spcPct val="108000"/>
              </a:lnSpc>
              <a:defRPr sz="1600">
                <a:solidFill>
                  <a:srgbClr val="4B555F"/>
                </a:solidFill>
              </a:defRPr>
            </a:pPr>
            <a:r>
              <a:t>Find the information relevant to the user's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23444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192D41"/>
                </a:solidFill>
              </a:rPr>
              <a:t>➕ Augmented</a:t>
            </a:r>
          </a:p>
          <a:p>
            <a:pPr>
              <a:lnSpc>
                <a:spcPct val="108000"/>
              </a:lnSpc>
              <a:defRPr sz="1600">
                <a:solidFill>
                  <a:srgbClr val="4B555F"/>
                </a:solidFill>
              </a:defRPr>
            </a:pPr>
            <a:r>
              <a:t>Add the retrieved information to the LLM's context/prompt.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192D41"/>
                </a:solidFill>
              </a:rPr>
              <a:t>✨ Generation</a:t>
            </a:r>
          </a:p>
          <a:p>
            <a:pPr>
              <a:lnSpc>
                <a:spcPct val="108000"/>
              </a:lnSpc>
              <a:defRPr sz="1600">
                <a:solidFill>
                  <a:srgbClr val="4B555F"/>
                </a:solidFill>
              </a:defRPr>
            </a:pPr>
            <a:r>
              <a:t>Use the LLM to generate the final answer using the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977639"/>
            <a:ext cx="27096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E3750"/>
                </a:solidFill>
              </a:rP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472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3064" y="3977639"/>
            <a:ext cx="27096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E3750"/>
                </a:solidFill>
              </a:rPr>
              <a:t>Augment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2736" y="414223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7328" y="3977639"/>
            <a:ext cx="270967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E3750"/>
                </a:solidFill>
              </a:rPr>
              <a:t>Generate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212080"/>
            <a:ext cx="8138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92D41"/>
                </a:solidFill>
              </a:rPr>
              <a:t>🧩 Simple definition</a:t>
            </a:r>
          </a:p>
          <a:p>
            <a:pPr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t>RAG retrieves relevant external knowledge and provides it to an LLM before generating an answer.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201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smtClean="0">
                <a:solidFill>
                  <a:srgbClr val="182738"/>
                </a:solidFill>
              </a:rPr>
              <a:t>RAG </a:t>
            </a:r>
            <a:r>
              <a:rPr sz="2800" b="1" dirty="0">
                <a:solidFill>
                  <a:srgbClr val="182738"/>
                </a:solidFill>
              </a:rPr>
              <a:t>Explained with a Teacher–Student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2000" b="1">
                <a:solidFill>
                  <a:srgbClr val="192D41"/>
                </a:solidFill>
              </a:rPr>
              <a:t>🧠 Student = LLM</a:t>
            </a:r>
          </a:p>
          <a:p>
            <a:pPr>
              <a:lnSpc>
                <a:spcPct val="105000"/>
              </a:lnSpc>
              <a:defRPr sz="1500">
                <a:solidFill>
                  <a:srgbClr val="4B555F"/>
                </a:solidFill>
              </a:defRPr>
            </a:pPr>
            <a:r>
              <a:t>The student is intelligent and has learned many things, but may not know the exact information in today's textbook.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23444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2000" b="1">
                <a:solidFill>
                  <a:srgbClr val="192D41"/>
                </a:solidFill>
              </a:rPr>
              <a:t>📚 Textbook = Knowledge Base</a:t>
            </a:r>
          </a:p>
          <a:p>
            <a:pPr>
              <a:lnSpc>
                <a:spcPct val="105000"/>
              </a:lnSpc>
              <a:defRPr sz="1500">
                <a:solidFill>
                  <a:srgbClr val="4B555F"/>
                </a:solidFill>
              </a:defRPr>
            </a:pPr>
            <a:r>
              <a:t>The textbook contains the information the student needs to answer a particular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4736" y="123444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2000" b="1">
                <a:solidFill>
                  <a:srgbClr val="192D41"/>
                </a:solidFill>
              </a:rPr>
              <a:t>🔎 Librarian = Retriever</a:t>
            </a:r>
          </a:p>
          <a:p>
            <a:pPr>
              <a:lnSpc>
                <a:spcPct val="105000"/>
              </a:lnSpc>
              <a:defRPr sz="1500">
                <a:solidFill>
                  <a:srgbClr val="4B555F"/>
                </a:solidFill>
              </a:defRPr>
            </a:pPr>
            <a:r>
              <a:t>The librarian finds the relevant page or paragraph instead of giving the student the entire textbook.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2596896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Student asks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409651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3977639"/>
            <a:ext cx="2596896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Librarian finds relevant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8464" y="409651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3977639"/>
            <a:ext cx="2596896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Page given to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409651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544" y="3977639"/>
            <a:ext cx="2596896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Student answers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257800"/>
            <a:ext cx="8549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 dirty="0">
                <a:solidFill>
                  <a:srgbClr val="192D41"/>
                </a:solidFill>
              </a:rPr>
              <a:t>🔗 RAG connection</a:t>
            </a:r>
          </a:p>
          <a:p>
            <a:pPr>
              <a:lnSpc>
                <a:spcPct val="105000"/>
              </a:lnSpc>
              <a:defRPr sz="1300">
                <a:solidFill>
                  <a:srgbClr val="4B555F"/>
                </a:solidFill>
              </a:defRPr>
            </a:pPr>
            <a:r>
              <a:rPr lang="en-US" dirty="0" smtClean="0"/>
              <a:t>                           </a:t>
            </a:r>
            <a:r>
              <a:rPr dirty="0" smtClean="0"/>
              <a:t>Student </a:t>
            </a:r>
            <a:r>
              <a:rPr dirty="0"/>
              <a:t>= LLM • Textbook = Documents • Librarian = Retriever • Relevant page = Retrieved 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6466" y="256032"/>
            <a:ext cx="32685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82738"/>
                </a:solidFill>
              </a:rPr>
              <a:t>🔄 4. Basic RAG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5413"/>
            <a:ext cx="209946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User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4906" y="1720005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6974" y="1555413"/>
            <a:ext cx="209946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Retrieve Relevant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8960" y="1720005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1028" y="1555413"/>
            <a:ext cx="209946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Add to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3015" y="1720005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1555413"/>
            <a:ext cx="209946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7069" y="1720005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9137" y="1555413"/>
            <a:ext cx="209946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Final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9892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800" b="1" dirty="0" smtClean="0">
                <a:solidFill>
                  <a:srgbClr val="192D41"/>
                </a:solidFill>
              </a:rPr>
              <a:t>Retrieve</a:t>
            </a:r>
            <a:endParaRPr sz="1800" b="1" dirty="0">
              <a:solidFill>
                <a:srgbClr val="192D41"/>
              </a:solidFill>
            </a:endParaRPr>
          </a:p>
          <a:p>
            <a:pPr algn="ctr"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rPr dirty="0"/>
              <a:t>Find the most relevant information from the knowledge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3109892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800" b="1" dirty="0" smtClean="0">
                <a:solidFill>
                  <a:srgbClr val="192D41"/>
                </a:solidFill>
              </a:rPr>
              <a:t>Augment</a:t>
            </a:r>
            <a:endParaRPr sz="1800" b="1" dirty="0">
              <a:solidFill>
                <a:srgbClr val="192D41"/>
              </a:solidFill>
            </a:endParaRPr>
          </a:p>
          <a:p>
            <a:pPr algn="ctr"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rPr dirty="0"/>
              <a:t>Combine the question with retrieved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9892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800" b="1" dirty="0" smtClean="0">
                <a:solidFill>
                  <a:srgbClr val="192D41"/>
                </a:solidFill>
              </a:rPr>
              <a:t>Generate</a:t>
            </a:r>
            <a:endParaRPr sz="1800" b="1" dirty="0">
              <a:solidFill>
                <a:srgbClr val="192D41"/>
              </a:solidFill>
            </a:endParaRPr>
          </a:p>
          <a:p>
            <a:pPr algn="ctr"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rPr dirty="0"/>
              <a:t>The LLM produces the response using that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80213" y="6601968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8828C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04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82738"/>
                </a:solidFill>
              </a:rPr>
              <a:t>5</a:t>
            </a:r>
            <a:r>
              <a:rPr sz="2800" b="1" dirty="0" smtClean="0">
                <a:solidFill>
                  <a:srgbClr val="182738"/>
                </a:solidFill>
              </a:rPr>
              <a:t>. </a:t>
            </a:r>
            <a:r>
              <a:rPr sz="2800" b="1" dirty="0">
                <a:solidFill>
                  <a:srgbClr val="182738"/>
                </a:solidFill>
              </a:rPr>
              <a:t>Complete Basic RAG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09946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2382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6974" y="1417320"/>
            <a:ext cx="209946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6436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1028" y="1417320"/>
            <a:ext cx="209946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Text Splitter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0491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1417320"/>
            <a:ext cx="209946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4545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9137" y="1417320"/>
            <a:ext cx="209946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Vector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User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5040" y="382219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9632" y="365760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Retriever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1751" y="382219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6343" y="365760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Relevant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3" y="382219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65760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Prompt +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5176" y="382219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9767" y="365760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1888" y="382219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6479" y="365760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5486400"/>
            <a:ext cx="8229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92D41"/>
                </a:solidFill>
              </a:rPr>
              <a:t>🛠️ Later we will study each component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PDF → PyPDFLoader → RecursiveCharacterTextSplitter → Embeddings → FAISS → Retriever →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🔄 Teacher–Student Analogy → Technical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Now map the analogy to the actual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📚 Textbook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06440" y="1234440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Documents / PDF / Knowledge Base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892808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📄 Relevant pages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06440" y="1892808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Chunks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551176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🔢 Meaning represented as numbers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551176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Embeddings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🗄️ Organized searchable library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06440" y="3209544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Vector Store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3867911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🔎 Librarian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06440" y="3867911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Retriever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79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📝 Notes given to the student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06440" y="4526279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Context added to Prompt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5184647"/>
            <a:ext cx="4800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700" b="1">
                <a:solidFill>
                  <a:srgbClr val="192D41"/>
                </a:solidFill>
              </a:rPr>
              <a:t>🧠 Student answering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700" b="1">
              <a:solidFill>
                <a:srgbClr val="192D4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06440" y="5184647"/>
            <a:ext cx="5577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600" b="1">
                <a:solidFill>
                  <a:srgbClr val="192D41"/>
                </a:solidFill>
              </a:rPr>
              <a:t>LLM Generation</a:t>
            </a:r>
          </a:p>
          <a:p>
            <a:pPr>
              <a:lnSpc>
                <a:spcPct val="105000"/>
              </a:lnSpc>
              <a:defRPr sz="100">
                <a:solidFill>
                  <a:srgbClr val="4B555F"/>
                </a:solidFill>
              </a:defRPr>
            </a:pPr>
            <a:endParaRPr sz="1600" b="1">
              <a:solidFill>
                <a:srgbClr val="192D4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828800" y="5925312"/>
            <a:ext cx="8595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500" b="1" dirty="0">
                <a:solidFill>
                  <a:srgbClr val="192D41"/>
                </a:solidFill>
              </a:rPr>
              <a:t>💡 Mental model</a:t>
            </a:r>
          </a:p>
          <a:p>
            <a:pPr algn="ctr">
              <a:lnSpc>
                <a:spcPct val="105000"/>
              </a:lnSpc>
              <a:defRPr sz="1100">
                <a:solidFill>
                  <a:srgbClr val="4B555F"/>
                </a:solidFill>
              </a:defRPr>
            </a:pPr>
            <a:r>
              <a:rPr dirty="0"/>
              <a:t>RAG does not retrain the student; it gives the student the right information at the right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7372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 smtClean="0">
                <a:solidFill>
                  <a:srgbClr val="182738"/>
                </a:solidFill>
              </a:rPr>
              <a:t>Main </a:t>
            </a:r>
            <a:r>
              <a:rPr sz="2800" b="1" dirty="0">
                <a:solidFill>
                  <a:srgbClr val="182738"/>
                </a:solidFill>
              </a:rPr>
              <a:t>RAG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📄 Document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Source of knowledge: PDF, DOCX, website, database, etc.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3444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📥 Loader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Reads the source and converts it into usable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3444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✂️ Text Splitter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Breaks large text into smaller chunks.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🔢 Embedding Model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Converts text into numerical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6974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🗄️ Vector Store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Stores vectors and enables similarity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6974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🔍 Retriever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Finds the most relevant chunks for a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1605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📝 Prompt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Combines instructions, question, and retrieved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1605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92D41"/>
                </a:solidFill>
              </a:rPr>
              <a:t>🤖 LLM</a:t>
            </a:r>
          </a:p>
          <a:p>
            <a:pPr algn="ctr"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Uses the context to generate the final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80213" y="6601968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8828C"/>
                </a:solidFill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📦 6A. Indexing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Prepare documents before users start asking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2382" y="2176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6974" y="201168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6436" y="2176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1028" y="201168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Split into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0491" y="2176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201168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Create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4545" y="2176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9137" y="201168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Store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📄 Load: extract text and metadata from documents.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✂️ Split: create smaller pieces that can be retrieved.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🔢 Embed: convert each chunk into a vector.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🗄️ Store: save vectors + useful metadata in the vector store.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💬 6B. Query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What happens when the user asks a question?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User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1412" y="167335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6004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Query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7377" y="167335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1969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Similarity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3341" y="167335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7933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Relevant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9306" y="167335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3898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Prompt +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5270" y="167335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99862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1235" y="1673351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5827" y="1508760"/>
            <a:ext cx="15113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750"/>
                </a:solidFill>
              </a:rPr>
              <a:t>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92D41"/>
                </a:solidFill>
              </a:rPr>
              <a:t>💡 Example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t>Question: “How many annual leave days do employees get?”</a:t>
            </a:r>
            <a:br/>
            <a:r>
              <a:t>The system searches the indexed company knowledge and retrieves the chunks most relevant to annual leave.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6324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92D41"/>
                </a:solidFill>
              </a:rPr>
              <a:t>🎯 Key point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t>The documents were prepared earlier during indexing. Querying focuses on finding the right information and using it to answer the current question.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🔗 Indexing + Querying = RAG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1688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9846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4438" y="1417320"/>
            <a:ext cx="251688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Chunk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1324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6" y="1417320"/>
            <a:ext cx="251688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2802" y="15819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7394" y="1417320"/>
            <a:ext cx="251688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Vector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4231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506478"/>
                </a:solidFill>
              </a:rPr>
              <a:t>⬇️  READY TO RETRIEVE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154680"/>
            <a:ext cx="190743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7558" y="3319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2150" y="3154680"/>
            <a:ext cx="190743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588" y="3319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4180" y="3154680"/>
            <a:ext cx="190743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1619" y="3319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6211" y="3154680"/>
            <a:ext cx="190743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3649" y="33192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8241" y="3154680"/>
            <a:ext cx="190743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750"/>
                </a:solidFill>
              </a:rPr>
              <a:t>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663440"/>
            <a:ext cx="8549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92D41"/>
                </a:solidFill>
              </a:rPr>
              <a:t>🧠 Mental model</a:t>
            </a:r>
          </a:p>
          <a:p>
            <a:pPr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t>Indexing builds the searchable knowledge base. Querying uses it to answer a specific question.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4617" y="256032"/>
            <a:ext cx="41322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82738"/>
                </a:solidFill>
              </a:rPr>
              <a:t>⚖️ 7. RAG vs Normal LLM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400" b="1" dirty="0" smtClean="0">
                <a:solidFill>
                  <a:srgbClr val="192D41"/>
                </a:solidFill>
              </a:rPr>
              <a:t>Normal </a:t>
            </a:r>
            <a:r>
              <a:rPr sz="1400" b="1" dirty="0">
                <a:solidFill>
                  <a:srgbClr val="192D41"/>
                </a:solidFill>
              </a:rPr>
              <a:t>LLM</a:t>
            </a:r>
          </a:p>
          <a:p>
            <a:pPr algn="ctr">
              <a:lnSpc>
                <a:spcPct val="108000"/>
              </a:lnSpc>
              <a:defRPr sz="1700">
                <a:solidFill>
                  <a:srgbClr val="4B555F"/>
                </a:solidFill>
              </a:defRPr>
            </a:pPr>
            <a:r>
              <a:rPr sz="1400" dirty="0"/>
              <a:t>User Question</a:t>
            </a:r>
            <a:br>
              <a:rPr sz="1400" dirty="0"/>
            </a:br>
            <a:r>
              <a:rPr sz="1400" dirty="0"/>
              <a:t>↓</a:t>
            </a:r>
            <a:br>
              <a:rPr sz="1400" dirty="0"/>
            </a:br>
            <a:r>
              <a:rPr sz="1400" dirty="0"/>
              <a:t>LLM</a:t>
            </a:r>
            <a:br>
              <a:rPr sz="1400" dirty="0"/>
            </a:br>
            <a:r>
              <a:rPr sz="1400" dirty="0"/>
              <a:t>↓</a:t>
            </a:r>
            <a:br>
              <a:rPr sz="1400" dirty="0"/>
            </a:br>
            <a:r>
              <a:rPr sz="1400" dirty="0"/>
              <a:t>Answer</a:t>
            </a:r>
            <a:br>
              <a:rPr sz="1400" dirty="0"/>
            </a:br>
            <a:r>
              <a:rPr sz="1400" dirty="0"/>
              <a:t/>
            </a:r>
            <a:br>
              <a:rPr sz="1400" dirty="0"/>
            </a:br>
            <a:r>
              <a:rPr sz="1400" dirty="0"/>
              <a:t>The model primarily relies on its learned knowledge and the context explicitly supplied in the request.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2588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400" b="1" dirty="0" smtClean="0">
                <a:solidFill>
                  <a:srgbClr val="192D41"/>
                </a:solidFill>
              </a:rPr>
              <a:t>📚 RAG</a:t>
            </a:r>
          </a:p>
          <a:p>
            <a:pPr algn="ctr">
              <a:lnSpc>
                <a:spcPct val="108000"/>
              </a:lnSpc>
              <a:defRPr sz="1700">
                <a:solidFill>
                  <a:srgbClr val="4B555F"/>
                </a:solidFill>
              </a:defRPr>
            </a:pPr>
            <a:r>
              <a:rPr sz="1400" dirty="0" smtClean="0"/>
              <a:t>User Question</a:t>
            </a:r>
            <a:br>
              <a:rPr sz="1400" dirty="0" smtClean="0"/>
            </a:br>
            <a:r>
              <a:rPr sz="1400" dirty="0" smtClean="0"/>
              <a:t>↓</a:t>
            </a:r>
            <a:br>
              <a:rPr sz="1400" dirty="0" smtClean="0"/>
            </a:br>
            <a:r>
              <a:rPr sz="1400" dirty="0" smtClean="0"/>
              <a:t>Retriever</a:t>
            </a:r>
            <a:br>
              <a:rPr sz="1400" dirty="0" smtClean="0"/>
            </a:br>
            <a:r>
              <a:rPr sz="1400" dirty="0" smtClean="0"/>
              <a:t>↓</a:t>
            </a:r>
            <a:br>
              <a:rPr sz="1400" dirty="0" smtClean="0"/>
            </a:br>
            <a:r>
              <a:rPr sz="1400" dirty="0" smtClean="0"/>
              <a:t>Relevant Context</a:t>
            </a:r>
            <a:br>
              <a:rPr sz="1400" dirty="0" smtClean="0"/>
            </a:br>
            <a:r>
              <a:rPr sz="1400" dirty="0" smtClean="0"/>
              <a:t>↓</a:t>
            </a:r>
            <a:br>
              <a:rPr sz="1400" dirty="0" smtClean="0"/>
            </a:br>
            <a:r>
              <a:rPr sz="1400" dirty="0" smtClean="0"/>
              <a:t>LLM</a:t>
            </a:r>
            <a:br>
              <a:rPr sz="1400" dirty="0" smtClean="0"/>
            </a:br>
            <a:r>
              <a:rPr sz="1400" dirty="0" smtClean="0"/>
              <a:t>↓</a:t>
            </a:r>
            <a:br>
              <a:rPr sz="1400" dirty="0" smtClean="0"/>
            </a:br>
            <a:r>
              <a:rPr sz="1400" dirty="0" smtClean="0"/>
              <a:t>Answer</a:t>
            </a:r>
            <a:br>
              <a:rPr sz="1400" dirty="0" smtClean="0"/>
            </a:b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External knowledge is retrieved and provided to the model at inference time.</a:t>
            </a:r>
            <a:endParaRPr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2011680" y="5166360"/>
            <a:ext cx="8138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92D41"/>
                </a:solidFill>
              </a:rPr>
              <a:t>🎯 Key difference</a:t>
            </a:r>
          </a:p>
          <a:p>
            <a:pPr algn="ctr"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t>RAG retrieves external knowledge before generation.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51359" y="6601968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8828C"/>
                </a:solidFill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8036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2738"/>
                </a:solidFill>
              </a:rPr>
              <a:t>🎓 </a:t>
            </a:r>
            <a:r>
              <a:rPr lang="en-US" sz="2800" b="1" dirty="0" smtClean="0">
                <a:solidFill>
                  <a:srgbClr val="182738"/>
                </a:solidFill>
              </a:rPr>
              <a:t>8</a:t>
            </a:r>
            <a:r>
              <a:rPr sz="2800" b="1" dirty="0" smtClean="0">
                <a:solidFill>
                  <a:srgbClr val="182738"/>
                </a:solidFill>
              </a:rPr>
              <a:t>. </a:t>
            </a:r>
            <a:r>
              <a:rPr sz="2800" b="1" dirty="0">
                <a:solidFill>
                  <a:srgbClr val="182738"/>
                </a:solidFill>
              </a:rPr>
              <a:t>RAG vs Fine-tuning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192D41"/>
                </a:solidFill>
              </a:rPr>
              <a:t>🔎 RAG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t>📚 Give the student the relevant textbook during the exam.</a:t>
            </a:r>
            <a:br/>
            <a:r>
              <a:t/>
            </a:r>
            <a:br/>
            <a:r>
              <a:t>• External/private knowledge</a:t>
            </a:r>
            <a:br/>
            <a:r>
              <a:t>• Knowledge can be updated</a:t>
            </a:r>
            <a:br/>
            <a:r>
              <a:t>• No retraining for every document change</a:t>
            </a:r>
            <a:br/>
            <a:r>
              <a:t>• Model weights are not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3444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192D41"/>
                </a:solidFill>
              </a:rPr>
              <a:t>⚙️ Fine-tuning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t>🏋️ Train the student differently before the exam.</a:t>
            </a:r>
            <a:br/>
            <a:r>
              <a:t/>
            </a:r>
            <a:br/>
            <a:r>
              <a:t>• Task/behavior adaptation</a:t>
            </a:r>
            <a:br/>
            <a:r>
              <a:t>• Specialized outputs or style</a:t>
            </a:r>
            <a:br/>
            <a:r>
              <a:t>• Requires additional training</a:t>
            </a:r>
            <a:br/>
            <a:r>
              <a:t>• Model parameters are adapted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074920"/>
            <a:ext cx="8138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92D41"/>
                </a:solidFill>
              </a:rPr>
              <a:t>🧠 Rule of thumb</a:t>
            </a:r>
          </a:p>
          <a:p>
            <a:pPr>
              <a:lnSpc>
                <a:spcPct val="108000"/>
              </a:lnSpc>
              <a:defRPr sz="1400">
                <a:solidFill>
                  <a:srgbClr val="4B555F"/>
                </a:solidFill>
              </a:defRPr>
            </a:pPr>
            <a:r>
              <a:t>RAG mainly supplies knowledge; fine-tuning mainly adapts model behavior for a task.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5024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smtClean="0">
                <a:solidFill>
                  <a:srgbClr val="182738"/>
                </a:solidFill>
              </a:rPr>
              <a:t>Does </a:t>
            </a:r>
            <a:r>
              <a:rPr sz="2800" b="1" dirty="0">
                <a:solidFill>
                  <a:srgbClr val="182738"/>
                </a:solidFill>
              </a:rPr>
              <a:t>RAG Eliminate Hallucinations?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No — RAG can reduce hallucinations, but it does not guarantee correctness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Correct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1265" y="18105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5858" y="1645920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21323" y="18105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1645920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Possible Misinterpretation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1382" y="18105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5974" y="1645920"/>
            <a:ext cx="258546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750"/>
                </a:solidFill>
              </a:rPr>
              <a:t>Wrong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203545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1254" y="368503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5846" y="3520440"/>
            <a:ext cx="203545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Bad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1300" y="368503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5892" y="3520440"/>
            <a:ext cx="203545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Wrong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1347" y="368503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5939" y="3520440"/>
            <a:ext cx="203545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1393" y="368503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5985" y="3520440"/>
            <a:ext cx="203545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Wrong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834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RAG quality depends on retrieval quality and generation quality.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500">
                <a:solidFill>
                  <a:srgbClr val="2D3741"/>
                </a:solidFill>
              </a:defRPr>
            </a:pPr>
            <a:r>
              <a:t>Production systems need evaluation, monitoring, good prompts, and retrieval improvements.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836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2738"/>
                </a:solidFill>
              </a:rPr>
              <a:t>🚧 </a:t>
            </a:r>
            <a:r>
              <a:rPr lang="en-US" sz="2800" b="1" dirty="0" smtClean="0">
                <a:solidFill>
                  <a:srgbClr val="182738"/>
                </a:solidFill>
              </a:rPr>
              <a:t>9</a:t>
            </a:r>
            <a:r>
              <a:rPr sz="2800" b="1" dirty="0" smtClean="0">
                <a:solidFill>
                  <a:srgbClr val="182738"/>
                </a:solidFill>
              </a:rPr>
              <a:t>. </a:t>
            </a:r>
            <a:r>
              <a:rPr sz="2800" b="1" dirty="0">
                <a:solidFill>
                  <a:srgbClr val="182738"/>
                </a:solidFill>
              </a:rPr>
              <a:t>Limitations of Basic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78"/>
                </a:solidFill>
              </a:rPr>
              <a:t>These problems lead us to Advanced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✂️ Poor chunking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🔍 Wrong retrieval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📚 Too much context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❓ Ambiguous questions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743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🕳️ Missing information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74320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🤖 Hallucination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2519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⏱️ Latency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2519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92D41"/>
                </a:solidFill>
              </a:rPr>
              <a:t>💰 Cost</a:t>
            </a:r>
          </a:p>
          <a:p>
            <a:pPr>
              <a:lnSpc>
                <a:spcPct val="108000"/>
              </a:lnSpc>
              <a:defRPr sz="1100">
                <a:solidFill>
                  <a:srgbClr val="4B555F"/>
                </a:solidFill>
              </a:defRPr>
            </a:pPr>
            <a:r>
              <a:t>A basic RAG system can fail at this stage.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🧠 Part 1 — Final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05374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3822" y="14904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8414" y="1325880"/>
            <a:ext cx="205374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2156" y="14904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6748" y="1325880"/>
            <a:ext cx="205374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0491" y="14904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5083" y="1325880"/>
            <a:ext cx="205374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8825" y="149047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3417" y="1325880"/>
            <a:ext cx="205374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040" y="34107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89632" y="324612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1751" y="34107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6343" y="324612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Relevant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3" y="34107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324612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5176" y="34107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9767" y="324612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1888" y="341071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6479" y="3246120"/>
            <a:ext cx="17221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750"/>
                </a:solidFill>
              </a:rPr>
              <a:t>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892040"/>
            <a:ext cx="9601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37160" rtlCol="0" anchor="ctr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92D41"/>
                </a:solidFill>
              </a:rPr>
              <a:t>🚀 Remember</a:t>
            </a:r>
          </a:p>
          <a:p>
            <a:pPr>
              <a:lnSpc>
                <a:spcPct val="108000"/>
              </a:lnSpc>
              <a:defRPr sz="1500">
                <a:solidFill>
                  <a:srgbClr val="4B555F"/>
                </a:solidFill>
              </a:defRPr>
            </a:pPr>
            <a:r>
              <a:t>RAG = Retrieve relevant knowledge → Add it as context → Generate the answer.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738"/>
                </a:solidFill>
              </a:rPr>
              <a:t>➡️ Next: Part 2 — Document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PDF /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2382" y="199339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6974" y="182880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PyPDFLoader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6436" y="199339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31028" y="182880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0491" y="199339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5083" y="182880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4545" y="199339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A6E82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9137" y="1828800"/>
            <a:ext cx="209946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4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3750"/>
                </a:solidFill>
              </a:rPr>
              <a:t>RecursiveCharacterTextSplitter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📄 What is a LangChain Document?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🧾 page_content and metadata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📥 PyPDFLoader — how PDF text is extracted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✂️ Why chunking is required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🛠️ RecursiveCharacterTextSplitter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⚙️ chunk_size and chunk_overlap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🎯 How chunk quality affects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442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828C"/>
                </a:solidFill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1291</Words>
  <Application>Microsoft Office PowerPoint</Application>
  <PresentationFormat>Widescreen</PresentationFormat>
  <Paragraphs>309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2026-09-12T06:50:51Z</dcterms:modified>
  <cp:category/>
</cp:coreProperties>
</file>